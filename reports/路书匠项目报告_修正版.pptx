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071E3"/>
                </a:solidFill>
                <a:latin typeface="Microsoft YaHei"/>
              </a:rPr>
              <a:t>RouteCraft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58521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D1D1F"/>
                </a:solidFill>
                <a:latin typeface="Microsoft YaHei"/>
              </a:rPr>
              <a:t>路书匠项目报告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6035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424245"/>
                </a:solidFill>
                <a:latin typeface="Microsoft YaHei"/>
              </a:rPr>
              <a:t>轻量 AI 出行规划工具：从出行条件输入，到外部数据增强，再到大模型流式生成可执行路线建议。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743200"/>
            <a:ext cx="114300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AI 规划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2743200"/>
            <a:ext cx="123444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SSE 流式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2743200"/>
            <a:ext cx="10515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高德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2743200"/>
            <a:ext cx="10515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天气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42432" y="2743200"/>
            <a:ext cx="123444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实时检索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749808"/>
            <a:ext cx="4526280" cy="5285232"/>
          </a:xfrm>
          <a:prstGeom prst="roundRect">
            <a:avLst/>
          </a:prstGeom>
          <a:solidFill>
            <a:srgbClr val="FFFFFF"/>
          </a:solidFill>
          <a:ln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0" y="1371600"/>
            <a:ext cx="475488" cy="47548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93852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起点</a:t>
            </a:r>
          </a:p>
        </p:txBody>
      </p:sp>
      <p:sp>
        <p:nvSpPr>
          <p:cNvPr id="13" name="Oval 12"/>
          <p:cNvSpPr/>
          <p:nvPr/>
        </p:nvSpPr>
        <p:spPr>
          <a:xfrm>
            <a:off x="9189720" y="2240280"/>
            <a:ext cx="475488" cy="475488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80720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天气</a:t>
            </a:r>
          </a:p>
        </p:txBody>
      </p:sp>
      <p:sp>
        <p:nvSpPr>
          <p:cNvPr id="15" name="Oval 14"/>
          <p:cNvSpPr/>
          <p:nvPr/>
        </p:nvSpPr>
        <p:spPr>
          <a:xfrm>
            <a:off x="8065008" y="3246120"/>
            <a:ext cx="475488" cy="475488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81304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景点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0" y="4315968"/>
            <a:ext cx="475488" cy="47548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488289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终点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8120" y="1600200"/>
            <a:ext cx="1234440" cy="731520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348472" y="2724912"/>
            <a:ext cx="978408" cy="429768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0" y="3493008"/>
            <a:ext cx="1463040" cy="987552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0" y="5166360"/>
            <a:ext cx="3611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24245"/>
                </a:solidFill>
                <a:latin typeface="Microsoft YaHei"/>
              </a:rPr>
              <a:t>规划链路可追溯：输入快照、外部数据快照、流式事件、最终结果均落库。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项目结论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当前阶段结论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首版核心链路已经成形，剩余重点是联调收口和真实 LLM Key 修复。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27632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2224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071E3"/>
                </a:solidFill>
                <a:latin typeface="Microsoft YaHei"/>
              </a:rPr>
              <a:t>3 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后端 API / 用户端 / 管理后台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1627632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792224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88056"/>
                </a:solidFill>
                <a:latin typeface="Microsoft YaHei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19456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后端 pytest 用例通过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41264" y="1627632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1792224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C47420"/>
                </a:solidFill>
                <a:latin typeface="Microsoft YaHe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219456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MVP 业务表已设计并迁移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27632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792224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071E3"/>
                </a:solidFill>
                <a:latin typeface="Microsoft YaHei"/>
              </a:rPr>
              <a:t>P0/P1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19456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首版接口基本注册完成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834640"/>
            <a:ext cx="48006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999232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已具备的核心能力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37560"/>
            <a:ext cx="4398264" cy="14356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用户注册登录、游客会话、JWT 鉴权、规划记录、SSE 流式生成、生成输出落库、地图/天气/实时检索适配、管理端记录和 LLM 配置管理。</a:t>
            </a:r>
          </a:p>
        </p:txBody>
      </p:sp>
      <p:sp>
        <p:nvSpPr>
          <p:cNvPr id="21" name="Oval 20"/>
          <p:cNvSpPr/>
          <p:nvPr/>
        </p:nvSpPr>
        <p:spPr>
          <a:xfrm>
            <a:off x="5129784" y="299923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06440" y="2834640"/>
            <a:ext cx="48006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7" y="2999232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待收口的关键风险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3337560"/>
            <a:ext cx="4398264" cy="14356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真实 LLM 配置中存量 API Key 仍需重新保存为可解密密文；前后端联调、mypy、地图截图兜底和配置审计日志仍需补齐。</a:t>
            </a:r>
          </a:p>
        </p:txBody>
      </p:sp>
      <p:sp>
        <p:nvSpPr>
          <p:cNvPr id="25" name="Oval 24"/>
          <p:cNvSpPr/>
          <p:nvPr/>
        </p:nvSpPr>
        <p:spPr>
          <a:xfrm>
            <a:off x="10222992" y="299923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5303520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230368"/>
            <a:ext cx="97109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24245"/>
                </a:solidFill>
                <a:latin typeface="Microsoft YaHei"/>
              </a:rPr>
              <a:t>项目定位清晰：先验证 AI 出行规划体验，不引入订单、支付、复杂 RBAC。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5614416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541264"/>
            <a:ext cx="97109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24245"/>
                </a:solidFill>
                <a:latin typeface="Microsoft YaHei"/>
              </a:rPr>
              <a:t>技术架构与数据快照策略支持历史回放、失败恢复和后台排障。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MVP 范围与用户价值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输入少量约束，输出可直接参考的行程建议。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30632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用户输入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660904" cy="2898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必填：起点、目的地、范围、交通方式
选填：日期、人数、偏好、避免项
目标：降低规划启动门槛，避免复杂下单流程。</a:t>
            </a:r>
          </a:p>
        </p:txBody>
      </p:sp>
      <p:sp>
        <p:nvSpPr>
          <p:cNvPr id="9" name="Oval 8"/>
          <p:cNvSpPr/>
          <p:nvPr/>
        </p:nvSpPr>
        <p:spPr>
          <a:xfrm>
            <a:off x="3392424" y="17647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600200"/>
            <a:ext cx="30632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764792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系统输出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103120"/>
            <a:ext cx="2660904" cy="2898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需求理解、天气预警、路径点/公共交通规划、高德路线链接和路径图、途径景点、实时信息、时间安排、风险提示、Markdown 与 JSON 摘要。</a:t>
            </a:r>
          </a:p>
        </p:txBody>
      </p:sp>
      <p:sp>
        <p:nvSpPr>
          <p:cNvPr id="13" name="Oval 12"/>
          <p:cNvSpPr/>
          <p:nvPr/>
        </p:nvSpPr>
        <p:spPr>
          <a:xfrm>
            <a:off x="6793992" y="176479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16368" y="1600200"/>
            <a:ext cx="30632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536" y="1764792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角色边界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103120"/>
            <a:ext cx="2660904" cy="2898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用户/游客：生成规划、看流式过程、查看历史。
管理员：用户管理、记录管理、LLM 配置、异常处理。
不做规划师、运营、支付和订单。</a:t>
            </a:r>
          </a:p>
        </p:txBody>
      </p:sp>
      <p:sp>
        <p:nvSpPr>
          <p:cNvPr id="17" name="Oval 16"/>
          <p:cNvSpPr/>
          <p:nvPr/>
        </p:nvSpPr>
        <p:spPr>
          <a:xfrm>
            <a:off x="10195560" y="176479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一句话定位：用户输入出行条件后，系统通过大模型流式生成包含天气、路线、景点和实时资讯的出行规划。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核心流程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从输入到结果的生成链路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SSE 让用户持续看到规划过程，数据库保留完整事件和结果。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提交条件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起点、目的地、范围、交通方式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7128" y="2926080"/>
            <a:ext cx="292608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3288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创建记录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生成记录与输入快照落库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50208" y="2926080"/>
            <a:ext cx="292608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1596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聚合数据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高德、天气、实时检索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33288" y="2926080"/>
            <a:ext cx="292608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09904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LLM 编排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拼装上下文并流式调用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16368" y="2926080"/>
            <a:ext cx="292607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82127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阶段输出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token / snapshot / done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99448" y="2926080"/>
            <a:ext cx="292608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6520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保存结果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Markdown、JSON、快照、错误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4709160"/>
            <a:ext cx="97840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" y="5212080"/>
            <a:ext cx="9381744" cy="1554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流式事件：record_created → stage → token → snapshot → done / error。连接中断后可通过记录详情或续接接口恢复已保存内容。</a:t>
            </a:r>
          </a:p>
        </p:txBody>
      </p:sp>
      <p:sp>
        <p:nvSpPr>
          <p:cNvPr id="37" name="Oval 36"/>
          <p:cNvSpPr/>
          <p:nvPr/>
        </p:nvSpPr>
        <p:spPr>
          <a:xfrm>
            <a:off x="10360152" y="487375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三端协作与外部能力接入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FastAPI 作为统一后端，用户端与管理端共享认证和记录能力。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24231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0208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Web 用户端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020824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Vue 3 / Vite / Pinia / Element Plus
端口 3003</a:t>
            </a:r>
          </a:p>
        </p:txBody>
      </p:sp>
      <p:sp>
        <p:nvSpPr>
          <p:cNvPr id="9" name="Oval 8"/>
          <p:cNvSpPr/>
          <p:nvPr/>
        </p:nvSpPr>
        <p:spPr>
          <a:xfrm>
            <a:off x="2752344" y="158191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971800"/>
            <a:ext cx="24231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20208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管理后台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2020824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Vue 3 / Vite / 路由守卫
端口 3004</a:t>
            </a:r>
          </a:p>
        </p:txBody>
      </p:sp>
      <p:sp>
        <p:nvSpPr>
          <p:cNvPr id="13" name="Oval 12"/>
          <p:cNvSpPr/>
          <p:nvPr/>
        </p:nvSpPr>
        <p:spPr>
          <a:xfrm>
            <a:off x="2752344" y="313639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7639" y="1874519"/>
            <a:ext cx="29718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2039112"/>
            <a:ext cx="25694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后端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2377439"/>
            <a:ext cx="2569464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FastAPI / SQLAlchemy 2 / Pydantic v2
认证、记录、SSE、外部服务编排
端口 3002</a:t>
            </a:r>
          </a:p>
        </p:txBody>
      </p:sp>
      <p:sp>
        <p:nvSpPr>
          <p:cNvPr id="17" name="Oval 16"/>
          <p:cNvSpPr/>
          <p:nvPr/>
        </p:nvSpPr>
        <p:spPr>
          <a:xfrm>
            <a:off x="6565392" y="203911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26679" y="1143000"/>
            <a:ext cx="2788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23865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1645920"/>
            <a:ext cx="2386584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用户、记录、快照、日志、配置</a:t>
            </a:r>
          </a:p>
        </p:txBody>
      </p:sp>
      <p:sp>
        <p:nvSpPr>
          <p:cNvPr id="21" name="Oval 20"/>
          <p:cNvSpPr/>
          <p:nvPr/>
        </p:nvSpPr>
        <p:spPr>
          <a:xfrm>
            <a:off x="10131552" y="130759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2395728"/>
            <a:ext cx="2788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2560320"/>
            <a:ext cx="23865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Redis /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2898648"/>
            <a:ext cx="2386584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限流与外部 API TTL 缓存</a:t>
            </a:r>
          </a:p>
        </p:txBody>
      </p:sp>
      <p:sp>
        <p:nvSpPr>
          <p:cNvPr id="25" name="Oval 24"/>
          <p:cNvSpPr/>
          <p:nvPr/>
        </p:nvSpPr>
        <p:spPr>
          <a:xfrm>
            <a:off x="10131552" y="2560320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79" y="3657600"/>
            <a:ext cx="2788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3822191"/>
            <a:ext cx="23865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外部服务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4160520"/>
            <a:ext cx="238658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高德 Web 服务
腾讯天气 / 高德天气
Tavily 实时检索
OpenAI-compatible LLM</a:t>
            </a:r>
          </a:p>
        </p:txBody>
      </p:sp>
      <p:sp>
        <p:nvSpPr>
          <p:cNvPr id="29" name="Oval 28"/>
          <p:cNvSpPr/>
          <p:nvPr/>
        </p:nvSpPr>
        <p:spPr>
          <a:xfrm>
            <a:off x="10131552" y="3822191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154680" y="1965960"/>
            <a:ext cx="758952" cy="50292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154680" y="3063240"/>
            <a:ext cx="758952" cy="45720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022592" y="1645920"/>
            <a:ext cx="640080" cy="822960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22592" y="2743200"/>
            <a:ext cx="640080" cy="73152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22592" y="3063240"/>
            <a:ext cx="640080" cy="1097280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22960" y="5559552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486400"/>
            <a:ext cx="96194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24245"/>
                </a:solidFill>
                <a:latin typeface="Microsoft YaHei"/>
              </a:rPr>
              <a:t>统一响应结构、CORS、请求日志和链路 ID 已接入；外部接口无 Key 或配置 Mock 时运行期明确失败。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AI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规划生成的 8 个阶段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阶段化输出让用户可感知进度，也方便后端落库和排障。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1. 需求理解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9" name="Oval 8"/>
          <p:cNvSpPr/>
          <p:nvPr/>
        </p:nvSpPr>
        <p:spPr>
          <a:xfrm>
            <a:off x="2478024" y="17647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0712" y="1600200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764792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2. 天气预警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03120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13" name="Oval 12"/>
          <p:cNvSpPr/>
          <p:nvPr/>
        </p:nvSpPr>
        <p:spPr>
          <a:xfrm>
            <a:off x="5175504" y="176479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8192" y="1600200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3. 地图 POI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17" name="Oval 16"/>
          <p:cNvSpPr/>
          <p:nvPr/>
        </p:nvSpPr>
        <p:spPr>
          <a:xfrm>
            <a:off x="7872984" y="176479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05672" y="1600200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764792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4. 路线规划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103120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21" name="Oval 20"/>
          <p:cNvSpPr/>
          <p:nvPr/>
        </p:nvSpPr>
        <p:spPr>
          <a:xfrm>
            <a:off x="10570464" y="17647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172968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37560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5. 路径图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75887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25" name="Oval 24"/>
          <p:cNvSpPr/>
          <p:nvPr/>
        </p:nvSpPr>
        <p:spPr>
          <a:xfrm>
            <a:off x="2478024" y="3337560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10712" y="3172968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3337560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6. 途径景点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675887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29" name="Oval 28"/>
          <p:cNvSpPr/>
          <p:nvPr/>
        </p:nvSpPr>
        <p:spPr>
          <a:xfrm>
            <a:off x="5175504" y="3337560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08192" y="3172968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337560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7. 实时信息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75887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33" name="Oval 32"/>
          <p:cNvSpPr/>
          <p:nvPr/>
        </p:nvSpPr>
        <p:spPr>
          <a:xfrm>
            <a:off x="7872984" y="3337560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05672" y="3172968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337560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8. 汇总建议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3675887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37" name="Oval 36"/>
          <p:cNvSpPr/>
          <p:nvPr/>
        </p:nvSpPr>
        <p:spPr>
          <a:xfrm>
            <a:off x="10570464" y="3337560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3232" y="4828032"/>
            <a:ext cx="480060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992624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LLM 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330952"/>
            <a:ext cx="4398264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最终 Markdown + JSON 摘要，承载天气、路线、景点、实时资讯和风险。</a:t>
            </a:r>
          </a:p>
        </p:txBody>
      </p:sp>
      <p:sp>
        <p:nvSpPr>
          <p:cNvPr id="41" name="Oval 40"/>
          <p:cNvSpPr/>
          <p:nvPr/>
        </p:nvSpPr>
        <p:spPr>
          <a:xfrm>
            <a:off x="5129784" y="4992624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806440" y="4828032"/>
            <a:ext cx="480060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07607" y="4992624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可追溯上下文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7607" y="5330952"/>
            <a:ext cx="4398264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TripPlanningContext 汇总 weather、route、transport、map_export、attractions、realtime、risks。</a:t>
            </a:r>
          </a:p>
        </p:txBody>
      </p:sp>
      <p:sp>
        <p:nvSpPr>
          <p:cNvPr id="45" name="Oval 44"/>
          <p:cNvSpPr/>
          <p:nvPr/>
        </p:nvSpPr>
        <p:spPr>
          <a:xfrm>
            <a:off x="10222992" y="4992624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用户端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单页规划工作台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首屏直接进入规划，不做营销页。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28803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4780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规划输入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478024" cy="3538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步骤式表单：去哪儿、怎么去、什么时候、偏好与避开、确认信息。
支持省市县选择、交通方式、人数步进器、多选偏好标签。</a:t>
            </a:r>
          </a:p>
        </p:txBody>
      </p:sp>
      <p:sp>
        <p:nvSpPr>
          <p:cNvPr id="9" name="Oval 8"/>
          <p:cNvSpPr/>
          <p:nvPr/>
        </p:nvSpPr>
        <p:spPr>
          <a:xfrm>
            <a:off x="3209544" y="158191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7912" y="1417320"/>
            <a:ext cx="28803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581912"/>
            <a:ext cx="24780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流式输出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20240"/>
            <a:ext cx="2478024" cy="3538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状态栏、阶段进度、停止生成、复制结果。
token 实时追加，snapshot 更新天气、路线、地图、景点、实时信息模块。</a:t>
            </a:r>
          </a:p>
        </p:txBody>
      </p:sp>
      <p:sp>
        <p:nvSpPr>
          <p:cNvPr id="13" name="Oval 12"/>
          <p:cNvSpPr/>
          <p:nvPr/>
        </p:nvSpPr>
        <p:spPr>
          <a:xfrm>
            <a:off x="6364224" y="158191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22592" y="1417320"/>
            <a:ext cx="28803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1581912"/>
            <a:ext cx="24780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历史与详情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1920240"/>
            <a:ext cx="2478024" cy="3538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生成完成后保留摘要和结构化结果。
历史记录支持进入详情、重新生成、失败重试和流式过程续接。</a:t>
            </a:r>
          </a:p>
        </p:txBody>
      </p:sp>
      <p:sp>
        <p:nvSpPr>
          <p:cNvPr id="17" name="Oval 16"/>
          <p:cNvSpPr/>
          <p:nvPr/>
        </p:nvSpPr>
        <p:spPr>
          <a:xfrm>
            <a:off x="9518904" y="158191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79008"/>
            <a:ext cx="9692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Microsoft YaHei"/>
              </a:rPr>
              <a:t>视觉基调：浅灰页面背景、白色内容面、近黑主文字、蓝色行动色，强调克制、清爽和可读性。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管理后台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运营与排障工作台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后台聚焦用户、生成记录和 LLM 配置，不引入复杂权限模型。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81328"/>
            <a:ext cx="2468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45920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071E3"/>
                </a:solidFill>
                <a:latin typeface="Microsoft YaHei"/>
              </a:rPr>
              <a:t>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48256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列表、搜索、状态筛选、启用/禁用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481328"/>
            <a:ext cx="2468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45920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88056"/>
                </a:solidFill>
                <a:latin typeface="Microsoft YaHei"/>
              </a:rPr>
              <a:t>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048256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筛选、详情、错误、重试、删除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81328"/>
            <a:ext cx="2468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45920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C47420"/>
                </a:solidFill>
                <a:latin typeface="Microsoft YaHei"/>
              </a:rP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48256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配置、密钥掩码、启用/停用、连接测试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971800"/>
            <a:ext cx="480060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36392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控制台概览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398264" cy="1481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统计总用户数、生成记录数、已启用 LLM 配置数，便于快速判断当前系统资源规模。</a:t>
            </a:r>
          </a:p>
        </p:txBody>
      </p:sp>
      <p:sp>
        <p:nvSpPr>
          <p:cNvPr id="18" name="Oval 17"/>
          <p:cNvSpPr/>
          <p:nvPr/>
        </p:nvSpPr>
        <p:spPr>
          <a:xfrm>
            <a:off x="5129784" y="31363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06440" y="2971800"/>
            <a:ext cx="480060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7" y="3136392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安全边界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3474720"/>
            <a:ext cx="4398264" cy="1481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管理端必须校验 role=admin；API Key 只展示掩码，日志和响应不得返回完整 Token、密码或密钥。</a:t>
            </a:r>
          </a:p>
        </p:txBody>
      </p:sp>
      <p:sp>
        <p:nvSpPr>
          <p:cNvPr id="22" name="Oval 21"/>
          <p:cNvSpPr/>
          <p:nvPr/>
        </p:nvSpPr>
        <p:spPr>
          <a:xfrm>
            <a:off x="10222992" y="3136392"/>
            <a:ext cx="137160" cy="137160"/>
          </a:xfrm>
          <a:prstGeom prst="ellipse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数据设计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以快照保证历史可复现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用户输入、外部数据、流式事件和最终结果都独立保存。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08760"/>
            <a:ext cx="2176272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账号与会话</a:t>
            </a:r>
          </a:p>
        </p:txBody>
      </p:sp>
      <p:sp>
        <p:nvSpPr>
          <p:cNvPr id="8" name="Oval 7"/>
          <p:cNvSpPr/>
          <p:nvPr/>
        </p:nvSpPr>
        <p:spPr>
          <a:xfrm>
            <a:off x="2505456" y="1673351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42032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login_sessions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508760"/>
            <a:ext cx="2176272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73351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生成记录</a:t>
            </a:r>
          </a:p>
        </p:txBody>
      </p:sp>
      <p:sp>
        <p:nvSpPr>
          <p:cNvPr id="13" name="Oval 12"/>
          <p:cNvSpPr/>
          <p:nvPr/>
        </p:nvSpPr>
        <p:spPr>
          <a:xfrm>
            <a:off x="5202936" y="1673351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2103120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542032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generation_inputs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2980944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419856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generation_stream_events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3858768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1508760"/>
            <a:ext cx="2176272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73351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外部快照</a:t>
            </a:r>
          </a:p>
        </p:txBody>
      </p:sp>
      <p:sp>
        <p:nvSpPr>
          <p:cNvPr id="21" name="Oval 20"/>
          <p:cNvSpPr/>
          <p:nvPr/>
        </p:nvSpPr>
        <p:spPr>
          <a:xfrm>
            <a:off x="7900416" y="1673351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103120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route_snapshots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542032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route_map_exports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980944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weather_snapshots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419856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news_snapshots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858768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external_api_cache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05672" y="1508760"/>
            <a:ext cx="2176272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673351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LLM 与审计</a:t>
            </a:r>
          </a:p>
        </p:txBody>
      </p:sp>
      <p:sp>
        <p:nvSpPr>
          <p:cNvPr id="29" name="Oval 28"/>
          <p:cNvSpPr/>
          <p:nvPr/>
        </p:nvSpPr>
        <p:spPr>
          <a:xfrm>
            <a:off x="10597896" y="1673351"/>
            <a:ext cx="137160" cy="137160"/>
          </a:xfrm>
          <a:prstGeom prst="ellipse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06840" y="2103120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302C"/>
                </a:solidFill>
                <a:latin typeface="Microsoft YaHei"/>
              </a:rPr>
              <a:t>llm_configs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2542032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302C"/>
                </a:solidFill>
                <a:latin typeface="Microsoft YaHei"/>
              </a:rPr>
              <a:t>llm_call_logs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2980944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302C"/>
                </a:solidFill>
                <a:latin typeface="Microsoft YaHei"/>
              </a:rPr>
              <a:t>config_audit_logs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806440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Microsoft YaHei"/>
              </a:rPr>
              <a:t>索引围绕用户历史、管理端筛选、记录详情、流式恢复和 LLM 成本统计设计。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进度与风险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当前状态与下一步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后端自测已通过，下一阶段应集中在真实联调和质量门禁。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30632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2660904" cy="3694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FastAPI 工程与迁移
认证、JWT、游客会话
生成记录、SSE、取消/重试
高德、天气、Tavily 适配
AI 规划编排与输出落库
用户端和管理端首版页面</a:t>
            </a:r>
          </a:p>
        </p:txBody>
      </p:sp>
      <p:sp>
        <p:nvSpPr>
          <p:cNvPr id="9" name="Oval 8"/>
          <p:cNvSpPr/>
          <p:nvPr/>
        </p:nvSpPr>
        <p:spPr>
          <a:xfrm>
            <a:off x="3392424" y="1609344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444752"/>
            <a:ext cx="30632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609344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阻塞与风险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947672"/>
            <a:ext cx="2660904" cy="3694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存量 LLM Key 旧哈希不可解密
前端联调仍需闭环验证
mypy 未配置
路径图截图兜底未实现
LLM 配置审计日志待补
供应商错误码需细分</a:t>
            </a:r>
          </a:p>
        </p:txBody>
      </p:sp>
      <p:sp>
        <p:nvSpPr>
          <p:cNvPr id="13" name="Oval 12"/>
          <p:cNvSpPr/>
          <p:nvPr/>
        </p:nvSpPr>
        <p:spPr>
          <a:xfrm>
            <a:off x="6793992" y="1609344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16368" y="1444752"/>
            <a:ext cx="30632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536" y="1609344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建议下一步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1947672"/>
            <a:ext cx="2660904" cy="3694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重新保存默认 LLM API Key
跑通真实生成端到端流程
完成用户端历史续接与重试联调
补 mypy 或明确暂缓
补截图兜底与审计日志
整理演示用种子数据</a:t>
            </a:r>
          </a:p>
        </p:txBody>
      </p:sp>
      <p:sp>
        <p:nvSpPr>
          <p:cNvPr id="17" name="Oval 16"/>
          <p:cNvSpPr/>
          <p:nvPr/>
        </p:nvSpPr>
        <p:spPr>
          <a:xfrm>
            <a:off x="10195560" y="1609344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交付路线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MVP 收口计划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建议用三步完成从可用到可演示的闭环。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1600200"/>
            <a:ext cx="95097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64792"/>
            <a:ext cx="91074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第 1 步：联调可用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1074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修复 LLM Key，完成真实生成、详情、历史、重试、管理端记录筛选。</a:t>
            </a:r>
          </a:p>
        </p:txBody>
      </p:sp>
      <p:sp>
        <p:nvSpPr>
          <p:cNvPr id="9" name="Oval 8"/>
          <p:cNvSpPr/>
          <p:nvPr/>
        </p:nvSpPr>
        <p:spPr>
          <a:xfrm>
            <a:off x="10113264" y="17647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715000" y="2587752"/>
            <a:ext cx="0" cy="310896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7552" y="3017520"/>
            <a:ext cx="95097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82112"/>
            <a:ext cx="91074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第 2 步：稳定可测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39"/>
            <a:ext cx="91074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补充 mypy / 前端 lint 与构建检查，细化外部服务失败提示和供应商错误码。</a:t>
            </a:r>
          </a:p>
        </p:txBody>
      </p:sp>
      <p:sp>
        <p:nvSpPr>
          <p:cNvPr id="14" name="Oval 13"/>
          <p:cNvSpPr/>
          <p:nvPr/>
        </p:nvSpPr>
        <p:spPr>
          <a:xfrm>
            <a:off x="10113264" y="318211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715000" y="4005072"/>
            <a:ext cx="0" cy="310896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7552" y="4434840"/>
            <a:ext cx="95097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99431"/>
            <a:ext cx="91074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第 3 步：演示可讲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37759"/>
            <a:ext cx="91074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准备演示数据、典型路线案例、后台异常处理案例和用户端生成录屏。</a:t>
            </a:r>
          </a:p>
        </p:txBody>
      </p:sp>
      <p:sp>
        <p:nvSpPr>
          <p:cNvPr id="19" name="Oval 18"/>
          <p:cNvSpPr/>
          <p:nvPr/>
        </p:nvSpPr>
        <p:spPr>
          <a:xfrm>
            <a:off x="10113264" y="4599431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5852160"/>
            <a:ext cx="9326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D1D1F"/>
                </a:solidFill>
                <a:latin typeface="Microsoft YaHei"/>
              </a:rPr>
              <a:t>MVP 原则保持不变：先验证规划体验、生成速度和结果可用性，再扩展复杂业务闭环。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